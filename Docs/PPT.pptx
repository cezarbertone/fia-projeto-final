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Bricolage Grotesque" charset="1" panose="020B0605040402000204"/>
      <p:regular r:id="rId17"/>
    </p:embeddedFont>
    <p:embeddedFont>
      <p:font typeface="Canva Sans" charset="1" panose="020B0503030501040103"/>
      <p:regular r:id="rId18"/>
    </p:embeddedFont>
    <p:embeddedFont>
      <p:font typeface="Bricolage Grotesque Bold" charset="1" panose="020B0605040402000204"/>
      <p:regular r:id="rId19"/>
    </p:embeddedFont>
    <p:embeddedFont>
      <p:font typeface="Canva Sans Bold" charset="1" panose="020B08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15882" cy="10287000"/>
            <a:chOff x="0" y="0"/>
            <a:chExt cx="63628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6282" cy="2709333"/>
            </a:xfrm>
            <a:custGeom>
              <a:avLst/>
              <a:gdLst/>
              <a:ahLst/>
              <a:cxnLst/>
              <a:rect r="r" b="b" t="t" l="l"/>
              <a:pathLst>
                <a:path h="2709333" w="636282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50950" y="1028700"/>
            <a:ext cx="9241467" cy="9258300"/>
          </a:xfrm>
          <a:custGeom>
            <a:avLst/>
            <a:gdLst/>
            <a:ahLst/>
            <a:cxnLst/>
            <a:rect r="r" b="b" t="t" l="l"/>
            <a:pathLst>
              <a:path h="9258300" w="9241467">
                <a:moveTo>
                  <a:pt x="0" y="0"/>
                </a:moveTo>
                <a:lnTo>
                  <a:pt x="9241467" y="0"/>
                </a:lnTo>
                <a:lnTo>
                  <a:pt x="924146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320099" y="7330105"/>
            <a:ext cx="2772573" cy="1641261"/>
            <a:chOff x="0" y="0"/>
            <a:chExt cx="3696764" cy="2188348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385418"/>
              <a:ext cx="134591" cy="134591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04775"/>
                <a:ext cx="660400" cy="63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08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06484" y="47625"/>
              <a:ext cx="2749098" cy="38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  <a:r>
                <a:rPr lang="en-US" b="true" sz="215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ALUNO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6484" y="536670"/>
              <a:ext cx="3190280" cy="690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  <a:r>
                <a:rPr lang="en-US" sz="215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Cézar Tadeu Bertão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506484" y="1806966"/>
              <a:ext cx="3190280" cy="3813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51643" y="1301379"/>
            <a:ext cx="6999307" cy="342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43"/>
              </a:lnSpc>
            </a:pPr>
            <a:r>
              <a:rPr lang="en-US" sz="5452" spc="-34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Previsão de Default na Concessão de Crédito pra pequenos empresários</a:t>
            </a:r>
          </a:p>
          <a:p>
            <a:pPr algn="l">
              <a:lnSpc>
                <a:spcPts val="534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5445624" cy="2699444"/>
            <a:chOff x="0" y="0"/>
            <a:chExt cx="7260833" cy="359925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304088" y="200025"/>
              <a:ext cx="6956745" cy="3399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3"/>
                </a:lnSpc>
              </a:pPr>
              <a:r>
                <a:rPr lang="en-US" sz="9799" spc="-627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A dor do negocio </a:t>
              </a:r>
            </a:p>
          </p:txBody>
        </p:sp>
        <p:grpSp>
          <p:nvGrpSpPr>
            <p:cNvPr name="Group 4" id="4"/>
            <p:cNvGrpSpPr/>
            <p:nvPr/>
          </p:nvGrpSpPr>
          <p:grpSpPr>
            <a:xfrm rot="0">
              <a:off x="0" y="439184"/>
              <a:ext cx="63500" cy="2720890"/>
              <a:chOff x="0" y="0"/>
              <a:chExt cx="12543" cy="53746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2543" cy="537460"/>
              </a:xfrm>
              <a:custGeom>
                <a:avLst/>
                <a:gdLst/>
                <a:ahLst/>
                <a:cxnLst/>
                <a:rect r="r" b="b" t="t" l="l"/>
                <a:pathLst>
                  <a:path h="537460" w="12543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2543" cy="5755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7" id="7"/>
          <p:cNvSpPr txBox="true"/>
          <p:nvPr/>
        </p:nvSpPr>
        <p:spPr>
          <a:xfrm rot="0">
            <a:off x="1028700" y="3768358"/>
            <a:ext cx="7918659" cy="302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143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Institu</a:t>
            </a:r>
            <a:r>
              <a:rPr lang="en-US" sz="2143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ições financeiras aprovam crédito sem visibilidade suficiente do risco real do cliente. O resultado: inadimplência, provisões elevadas e prejuízo direto.</a:t>
            </a:r>
          </a:p>
          <a:p>
            <a:pPr algn="just">
              <a:lnSpc>
                <a:spcPts val="3000"/>
              </a:lnSpc>
            </a:pPr>
            <a:r>
              <a:rPr lang="en-US" sz="2143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Neste trabalho, o foco é avaliar como o banco pode se beneficiar ao direcionar a análise para clientes com perfil de pequenos empresários e autônomos, cuja renda depende diretamente da geração de receita.</a:t>
            </a:r>
          </a:p>
          <a:p>
            <a:pPr algn="just">
              <a:lnSpc>
                <a:spcPts val="30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847411" y="5830298"/>
            <a:ext cx="3411889" cy="3428002"/>
          </a:xfrm>
          <a:custGeom>
            <a:avLst/>
            <a:gdLst/>
            <a:ahLst/>
            <a:cxnLst/>
            <a:rect r="r" b="b" t="t" l="l"/>
            <a:pathLst>
              <a:path h="3428002" w="3411889">
                <a:moveTo>
                  <a:pt x="0" y="0"/>
                </a:moveTo>
                <a:lnTo>
                  <a:pt x="3411889" y="0"/>
                </a:lnTo>
                <a:lnTo>
                  <a:pt x="3411889" y="3428002"/>
                </a:lnTo>
                <a:lnTo>
                  <a:pt x="0" y="3428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106089" y="1810066"/>
            <a:ext cx="49477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TARGET: 0 = paga em dia | 1 = inadimplente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06089" y="2340322"/>
            <a:ext cx="237261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 desbalanceada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6089" y="3404929"/>
            <a:ext cx="133841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OBJETIVOS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06089" y="3986231"/>
            <a:ext cx="209698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🆕 Novos clientes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06089" y="4518996"/>
            <a:ext cx="692616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Prever, na solicitação, se o cliente terá dificuldade em pagar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apoiando APROVAR / REVISAR.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221084"/>
            <a:ext cx="110638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AUC-ROC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73292" y="7054396"/>
            <a:ext cx="186526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 da Classe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inadimplente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74957" y="7221084"/>
            <a:ext cx="29959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575" y="7801474"/>
            <a:ext cx="219863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Ordena clientes do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menos ao mais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arriscado.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52655" y="7801474"/>
            <a:ext cx="230653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Quantos clientes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 modelo identifica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 não pagariam.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48043" y="7801474"/>
            <a:ext cx="235341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quanto o modelo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separa bons e maus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pagadores.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579984" y="2340322"/>
            <a:ext cx="2771626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8,41% de inadimplência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recorte individual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92056" y="1525863"/>
            <a:ext cx="47625" cy="2040668"/>
            <a:chOff x="0" y="0"/>
            <a:chExt cx="12543" cy="5374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2250203" cy="10287000"/>
            <a:chOff x="0" y="0"/>
            <a:chExt cx="348615" cy="1593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8615" cy="1593725"/>
            </a:xfrm>
            <a:custGeom>
              <a:avLst/>
              <a:gdLst/>
              <a:ahLst/>
              <a:cxnLst/>
              <a:rect r="r" b="b" t="t" l="l"/>
              <a:pathLst>
                <a:path h="1593725" w="348615">
                  <a:moveTo>
                    <a:pt x="0" y="0"/>
                  </a:moveTo>
                  <a:lnTo>
                    <a:pt x="348615" y="0"/>
                  </a:lnTo>
                  <a:lnTo>
                    <a:pt x="34861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73270" t="0" r="-27327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74293" y="895238"/>
            <a:ext cx="6138832" cy="4759832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293214" y="874199"/>
            <a:ext cx="6391300" cy="480191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2585862" y="5750318"/>
            <a:ext cx="4024795" cy="2149797"/>
            <a:chOff x="0" y="0"/>
            <a:chExt cx="1060028" cy="5662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028" cy="566202"/>
            </a:xfrm>
            <a:custGeom>
              <a:avLst/>
              <a:gdLst/>
              <a:ahLst/>
              <a:cxnLst/>
              <a:rect r="r" b="b" t="t" l="l"/>
              <a:pathLst>
                <a:path h="566202" w="1060028">
                  <a:moveTo>
                    <a:pt x="98101" y="0"/>
                  </a:moveTo>
                  <a:lnTo>
                    <a:pt x="961927" y="0"/>
                  </a:lnTo>
                  <a:cubicBezTo>
                    <a:pt x="987945" y="0"/>
                    <a:pt x="1012897" y="10336"/>
                    <a:pt x="1031295" y="28733"/>
                  </a:cubicBezTo>
                  <a:cubicBezTo>
                    <a:pt x="1049693" y="47131"/>
                    <a:pt x="1060028" y="72083"/>
                    <a:pt x="1060028" y="98101"/>
                  </a:cubicBezTo>
                  <a:lnTo>
                    <a:pt x="1060028" y="468100"/>
                  </a:lnTo>
                  <a:cubicBezTo>
                    <a:pt x="1060028" y="494118"/>
                    <a:pt x="1049693" y="519071"/>
                    <a:pt x="1031295" y="537469"/>
                  </a:cubicBezTo>
                  <a:cubicBezTo>
                    <a:pt x="1012897" y="555866"/>
                    <a:pt x="987945" y="566202"/>
                    <a:pt x="961927" y="566202"/>
                  </a:cubicBezTo>
                  <a:lnTo>
                    <a:pt x="98101" y="566202"/>
                  </a:lnTo>
                  <a:cubicBezTo>
                    <a:pt x="72083" y="566202"/>
                    <a:pt x="47131" y="555866"/>
                    <a:pt x="28733" y="537469"/>
                  </a:cubicBezTo>
                  <a:cubicBezTo>
                    <a:pt x="10336" y="519071"/>
                    <a:pt x="0" y="494118"/>
                    <a:pt x="0" y="468100"/>
                  </a:cubicBezTo>
                  <a:lnTo>
                    <a:pt x="0" y="98101"/>
                  </a:lnTo>
                  <a:cubicBezTo>
                    <a:pt x="0" y="72083"/>
                    <a:pt x="10336" y="47131"/>
                    <a:pt x="28733" y="28733"/>
                  </a:cubicBezTo>
                  <a:cubicBezTo>
                    <a:pt x="47131" y="10336"/>
                    <a:pt x="72083" y="0"/>
                    <a:pt x="98101" y="0"/>
                  </a:cubicBezTo>
                  <a:close/>
                </a:path>
              </a:pathLst>
            </a:custGeom>
            <a:solidFill>
              <a:srgbClr val="C6D6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60028" cy="604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Base individual com 98.287 clientes e inadimplência de 8,41%;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como a classe inadimplente é minoria, acurácia sozinha pode enganar.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272763" y="98625"/>
            <a:ext cx="7106119" cy="43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b="true" sz="2370" spc="-5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ANÁLISE EXPLORATÓRIA DOS DADOS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50564" y="848042"/>
            <a:ext cx="336009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Eta² — Numéricas vs. TARGET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51070" y="848042"/>
            <a:ext cx="430083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Cramér’s V — Categóricas vs. TARGET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36029" y="5750318"/>
            <a:ext cx="4615942" cy="2185229"/>
            <a:chOff x="0" y="0"/>
            <a:chExt cx="1215721" cy="5755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15721" cy="575534"/>
            </a:xfrm>
            <a:custGeom>
              <a:avLst/>
              <a:gdLst/>
              <a:ahLst/>
              <a:cxnLst/>
              <a:rect r="r" b="b" t="t" l="l"/>
              <a:pathLst>
                <a:path h="575534" w="1215721">
                  <a:moveTo>
                    <a:pt x="85538" y="0"/>
                  </a:moveTo>
                  <a:lnTo>
                    <a:pt x="1130184" y="0"/>
                  </a:lnTo>
                  <a:cubicBezTo>
                    <a:pt x="1152870" y="0"/>
                    <a:pt x="1174626" y="9012"/>
                    <a:pt x="1190668" y="25053"/>
                  </a:cubicBezTo>
                  <a:cubicBezTo>
                    <a:pt x="1206709" y="41095"/>
                    <a:pt x="1215721" y="62852"/>
                    <a:pt x="1215721" y="85538"/>
                  </a:cubicBezTo>
                  <a:lnTo>
                    <a:pt x="1215721" y="489996"/>
                  </a:lnTo>
                  <a:cubicBezTo>
                    <a:pt x="1215721" y="512682"/>
                    <a:pt x="1206709" y="534439"/>
                    <a:pt x="1190668" y="550480"/>
                  </a:cubicBezTo>
                  <a:cubicBezTo>
                    <a:pt x="1174626" y="566522"/>
                    <a:pt x="1152870" y="575534"/>
                    <a:pt x="1130184" y="575534"/>
                  </a:cubicBezTo>
                  <a:lnTo>
                    <a:pt x="85538" y="575534"/>
                  </a:lnTo>
                  <a:cubicBezTo>
                    <a:pt x="62852" y="575534"/>
                    <a:pt x="41095" y="566522"/>
                    <a:pt x="25053" y="550480"/>
                  </a:cubicBezTo>
                  <a:cubicBezTo>
                    <a:pt x="9012" y="534439"/>
                    <a:pt x="0" y="512682"/>
                    <a:pt x="0" y="489996"/>
                  </a:cubicBezTo>
                  <a:lnTo>
                    <a:pt x="0" y="85538"/>
                  </a:lnTo>
                  <a:cubicBezTo>
                    <a:pt x="0" y="62852"/>
                    <a:pt x="9012" y="41095"/>
                    <a:pt x="25053" y="25053"/>
                  </a:cubicBezTo>
                  <a:cubicBezTo>
                    <a:pt x="41095" y="9012"/>
                    <a:pt x="62852" y="0"/>
                    <a:pt x="85538" y="0"/>
                  </a:cubicBezTo>
                  <a:close/>
                </a:path>
              </a:pathLst>
            </a:custGeom>
            <a:solidFill>
              <a:srgbClr val="C6D6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15721" cy="613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EXT_SOURCE_2, EXT_SOURCE_3 e EXT_SOURCE_1 são os sinais numéricos mais fortes;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os três maiores Eta² ficaram entre 0,0216 e 0,0305.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85346" y="5768034"/>
            <a:ext cx="4733505" cy="2149797"/>
            <a:chOff x="0" y="0"/>
            <a:chExt cx="1246685" cy="5662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46684" cy="566202"/>
            </a:xfrm>
            <a:custGeom>
              <a:avLst/>
              <a:gdLst/>
              <a:ahLst/>
              <a:cxnLst/>
              <a:rect r="r" b="b" t="t" l="l"/>
              <a:pathLst>
                <a:path h="566202" w="1246684">
                  <a:moveTo>
                    <a:pt x="83413" y="0"/>
                  </a:moveTo>
                  <a:lnTo>
                    <a:pt x="1163271" y="0"/>
                  </a:lnTo>
                  <a:cubicBezTo>
                    <a:pt x="1209339" y="0"/>
                    <a:pt x="1246684" y="37345"/>
                    <a:pt x="1246684" y="83413"/>
                  </a:cubicBezTo>
                  <a:lnTo>
                    <a:pt x="1246684" y="482788"/>
                  </a:lnTo>
                  <a:cubicBezTo>
                    <a:pt x="1246684" y="504911"/>
                    <a:pt x="1237896" y="526127"/>
                    <a:pt x="1222253" y="541771"/>
                  </a:cubicBezTo>
                  <a:cubicBezTo>
                    <a:pt x="1206610" y="557414"/>
                    <a:pt x="1185394" y="566202"/>
                    <a:pt x="1163271" y="566202"/>
                  </a:cubicBezTo>
                  <a:lnTo>
                    <a:pt x="83413" y="566202"/>
                  </a:lnTo>
                  <a:cubicBezTo>
                    <a:pt x="61291" y="566202"/>
                    <a:pt x="40074" y="557414"/>
                    <a:pt x="24431" y="541771"/>
                  </a:cubicBezTo>
                  <a:cubicBezTo>
                    <a:pt x="8788" y="526127"/>
                    <a:pt x="0" y="504911"/>
                    <a:pt x="0" y="482788"/>
                  </a:cubicBezTo>
                  <a:lnTo>
                    <a:pt x="0" y="83413"/>
                  </a:lnTo>
                  <a:cubicBezTo>
                    <a:pt x="0" y="37345"/>
                    <a:pt x="37345" y="0"/>
                    <a:pt x="83413" y="0"/>
                  </a:cubicBezTo>
                  <a:close/>
                </a:path>
              </a:pathLst>
            </a:custGeom>
            <a:solidFill>
              <a:srgbClr val="C6D6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46685" cy="6043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Clientes mais jovens inadimplem mais: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até 30 anos = 10,98% de default;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acima de 60 anos = 4,92%.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78052" y="8138241"/>
            <a:ext cx="4240413" cy="2115496"/>
            <a:chOff x="0" y="0"/>
            <a:chExt cx="1116817" cy="5571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16817" cy="557168"/>
            </a:xfrm>
            <a:custGeom>
              <a:avLst/>
              <a:gdLst/>
              <a:ahLst/>
              <a:cxnLst/>
              <a:rect r="r" b="b" t="t" l="l"/>
              <a:pathLst>
                <a:path h="557168" w="1116817">
                  <a:moveTo>
                    <a:pt x="93113" y="0"/>
                  </a:moveTo>
                  <a:lnTo>
                    <a:pt x="1023704" y="0"/>
                  </a:lnTo>
                  <a:cubicBezTo>
                    <a:pt x="1075129" y="0"/>
                    <a:pt x="1116817" y="41688"/>
                    <a:pt x="1116817" y="93113"/>
                  </a:cubicBezTo>
                  <a:lnTo>
                    <a:pt x="1116817" y="464055"/>
                  </a:lnTo>
                  <a:cubicBezTo>
                    <a:pt x="1116817" y="488750"/>
                    <a:pt x="1107007" y="512433"/>
                    <a:pt x="1089545" y="529896"/>
                  </a:cubicBezTo>
                  <a:cubicBezTo>
                    <a:pt x="1072082" y="547358"/>
                    <a:pt x="1048399" y="557168"/>
                    <a:pt x="1023704" y="557168"/>
                  </a:cubicBezTo>
                  <a:lnTo>
                    <a:pt x="93113" y="557168"/>
                  </a:lnTo>
                  <a:cubicBezTo>
                    <a:pt x="68418" y="557168"/>
                    <a:pt x="44734" y="547358"/>
                    <a:pt x="27272" y="529896"/>
                  </a:cubicBezTo>
                  <a:cubicBezTo>
                    <a:pt x="9810" y="512433"/>
                    <a:pt x="0" y="488750"/>
                    <a:pt x="0" y="464055"/>
                  </a:cubicBezTo>
                  <a:lnTo>
                    <a:pt x="0" y="93113"/>
                  </a:lnTo>
                  <a:cubicBezTo>
                    <a:pt x="0" y="68418"/>
                    <a:pt x="9810" y="44734"/>
                    <a:pt x="27272" y="27272"/>
                  </a:cubicBezTo>
                  <a:cubicBezTo>
                    <a:pt x="44734" y="9810"/>
                    <a:pt x="68418" y="0"/>
                    <a:pt x="93113" y="0"/>
                  </a:cubicBezTo>
                  <a:close/>
                </a:path>
              </a:pathLst>
            </a:custGeom>
            <a:solidFill>
              <a:srgbClr val="C6D6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16817" cy="595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Renda e crédito têm forte assimetria: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renda média = 191 mil vs. mediana = 157,5 mil;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crédito médio = 642 mil vs. mediana = 544 mil.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36029" y="8138241"/>
            <a:ext cx="4615942" cy="2115496"/>
            <a:chOff x="0" y="0"/>
            <a:chExt cx="1215721" cy="5571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15721" cy="557168"/>
            </a:xfrm>
            <a:custGeom>
              <a:avLst/>
              <a:gdLst/>
              <a:ahLst/>
              <a:cxnLst/>
              <a:rect r="r" b="b" t="t" l="l"/>
              <a:pathLst>
                <a:path h="557168" w="1215721">
                  <a:moveTo>
                    <a:pt x="85538" y="0"/>
                  </a:moveTo>
                  <a:lnTo>
                    <a:pt x="1130184" y="0"/>
                  </a:lnTo>
                  <a:cubicBezTo>
                    <a:pt x="1152870" y="0"/>
                    <a:pt x="1174626" y="9012"/>
                    <a:pt x="1190668" y="25053"/>
                  </a:cubicBezTo>
                  <a:cubicBezTo>
                    <a:pt x="1206709" y="41095"/>
                    <a:pt x="1215721" y="62852"/>
                    <a:pt x="1215721" y="85538"/>
                  </a:cubicBezTo>
                  <a:lnTo>
                    <a:pt x="1215721" y="471630"/>
                  </a:lnTo>
                  <a:cubicBezTo>
                    <a:pt x="1215721" y="494316"/>
                    <a:pt x="1206709" y="516073"/>
                    <a:pt x="1190668" y="532114"/>
                  </a:cubicBezTo>
                  <a:cubicBezTo>
                    <a:pt x="1174626" y="548156"/>
                    <a:pt x="1152870" y="557168"/>
                    <a:pt x="1130184" y="557168"/>
                  </a:cubicBezTo>
                  <a:lnTo>
                    <a:pt x="85538" y="557168"/>
                  </a:lnTo>
                  <a:cubicBezTo>
                    <a:pt x="62852" y="557168"/>
                    <a:pt x="41095" y="548156"/>
                    <a:pt x="25053" y="532114"/>
                  </a:cubicBezTo>
                  <a:cubicBezTo>
                    <a:pt x="9012" y="516073"/>
                    <a:pt x="0" y="494316"/>
                    <a:pt x="0" y="471630"/>
                  </a:cubicBezTo>
                  <a:lnTo>
                    <a:pt x="0" y="85538"/>
                  </a:lnTo>
                  <a:cubicBezTo>
                    <a:pt x="0" y="62852"/>
                    <a:pt x="9012" y="41095"/>
                    <a:pt x="25053" y="25053"/>
                  </a:cubicBezTo>
                  <a:cubicBezTo>
                    <a:pt x="41095" y="9012"/>
                    <a:pt x="62852" y="0"/>
                    <a:pt x="85538" y="0"/>
                  </a:cubicBezTo>
                  <a:close/>
                </a:path>
              </a:pathLst>
            </a:custGeom>
            <a:solidFill>
              <a:srgbClr val="C6D6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15721" cy="595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Cerca de 30 colunas possuem mais de 50% de nulos,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mas EXT_SOURCE_1 é mantida mesmo com ~50,5% de nulos pelo seu sinal preditivo.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917256" y="8540391"/>
            <a:ext cx="5773641" cy="128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Eta² mede associação entre variável numérica e TARGET.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Cramér’s V mede associação entre variável categórica e TARGET.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Valores baixos são esperados em risco de crédito: 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poder preditivo vem da combinação de variáveis, 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sz="147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não de uma variável isolada.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93101" y="55385"/>
            <a:ext cx="3746706" cy="37467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94844" y="6145316"/>
            <a:ext cx="3746706" cy="374670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51125" y="6145316"/>
            <a:ext cx="3746706" cy="374670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322585" y="6145316"/>
            <a:ext cx="3746706" cy="374670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200786" y="1127496"/>
            <a:ext cx="1984104" cy="37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246" spc="-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ABT FINAL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80113" y="1660761"/>
            <a:ext cx="2425450" cy="166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98.287 li</a:t>
            </a:r>
            <a:r>
              <a:rPr lang="en-US" sz="1727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nhas </a:t>
            </a:r>
          </a:p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× 154</a:t>
            </a:r>
            <a:r>
              <a:rPr lang="en-US" sz="1727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colunas</a:t>
            </a:r>
          </a:p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152 features + SK_ID_CURR + TARGET</a:t>
            </a:r>
          </a:p>
          <a:p>
            <a:pPr algn="ctr">
              <a:lnSpc>
                <a:spcPts val="222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176145" y="7400565"/>
            <a:ext cx="1984104" cy="37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246" spc="-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84,5%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55471" y="8118336"/>
            <a:ext cx="2425450" cy="111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Bureau exte</a:t>
            </a: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rno</a:t>
            </a:r>
          </a:p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 do r</a:t>
            </a: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ecorte individual</a:t>
            </a:r>
          </a:p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 histórico no birô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7123" y="7400565"/>
            <a:ext cx="2354710" cy="37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246" spc="-6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93%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47123" y="8118336"/>
            <a:ext cx="2425450" cy="138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Pedidos anteriores clientes do recorte individual com histórico na Home Credit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03886" y="7400565"/>
            <a:ext cx="1984104" cy="37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246" spc="-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88061" y="8118336"/>
            <a:ext cx="2425450" cy="111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7"/>
              </a:lnSpc>
            </a:pP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1727" spc="-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tures históricas agregadas 15 BUREAU_* + 13 PREV_* + 27 INSTAL_*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5032070" y="55385"/>
            <a:ext cx="746986" cy="746986"/>
            <a:chOff x="0" y="0"/>
            <a:chExt cx="995981" cy="995981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95981" cy="995981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75623" y="235561"/>
              <a:ext cx="644736" cy="486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07429" y="6145316"/>
            <a:ext cx="746986" cy="746986"/>
            <a:chOff x="0" y="0"/>
            <a:chExt cx="995981" cy="995981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95981" cy="995981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175623" y="235561"/>
              <a:ext cx="644736" cy="486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164820" y="6145316"/>
            <a:ext cx="746986" cy="746986"/>
            <a:chOff x="0" y="0"/>
            <a:chExt cx="995981" cy="995981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995981" cy="995981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75623" y="235561"/>
              <a:ext cx="644736" cy="486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036281" y="6145316"/>
            <a:ext cx="746986" cy="746986"/>
            <a:chOff x="0" y="0"/>
            <a:chExt cx="995981" cy="995981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95981" cy="995981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75623" y="235561"/>
              <a:ext cx="644736" cy="486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-49232" y="169685"/>
            <a:ext cx="3294844" cy="212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3"/>
              </a:lnSpc>
            </a:pPr>
            <a:r>
              <a:rPr lang="en-US" sz="5585" spc="-35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Analytical</a:t>
            </a:r>
          </a:p>
          <a:p>
            <a:pPr algn="ctr">
              <a:lnSpc>
                <a:spcPts val="5473"/>
              </a:lnSpc>
            </a:pPr>
            <a:r>
              <a:rPr lang="en-US" sz="5585" spc="-35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Base </a:t>
            </a:r>
          </a:p>
          <a:p>
            <a:pPr algn="ctr">
              <a:lnSpc>
                <a:spcPts val="5473"/>
              </a:lnSpc>
            </a:pPr>
            <a:r>
              <a:rPr lang="en-US" sz="5585" spc="-35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Table (ABT)</a:t>
            </a:r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33190" y="-803708"/>
            <a:ext cx="10309116" cy="69788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64564" y="742619"/>
            <a:ext cx="6380473" cy="361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7"/>
              </a:lnSpc>
            </a:pPr>
            <a:r>
              <a:rPr lang="en-US" b="true" sz="2012" spc="-5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152 FEATURES EM 5 BLOCOS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64564" y="1273427"/>
            <a:ext cx="6598634" cy="3850840"/>
            <a:chOff x="0" y="0"/>
            <a:chExt cx="2850467" cy="1663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0467" cy="1663480"/>
            </a:xfrm>
            <a:custGeom>
              <a:avLst/>
              <a:gdLst/>
              <a:ahLst/>
              <a:cxnLst/>
              <a:rect r="r" b="b" t="t" l="l"/>
              <a:pathLst>
                <a:path h="1663480" w="2850467">
                  <a:moveTo>
                    <a:pt x="50450" y="0"/>
                  </a:moveTo>
                  <a:lnTo>
                    <a:pt x="2800017" y="0"/>
                  </a:lnTo>
                  <a:cubicBezTo>
                    <a:pt x="2813397" y="0"/>
                    <a:pt x="2826229" y="5315"/>
                    <a:pt x="2835690" y="14777"/>
                  </a:cubicBezTo>
                  <a:cubicBezTo>
                    <a:pt x="2845152" y="24238"/>
                    <a:pt x="2850467" y="37070"/>
                    <a:pt x="2850467" y="50450"/>
                  </a:cubicBezTo>
                  <a:lnTo>
                    <a:pt x="2850467" y="1613030"/>
                  </a:lnTo>
                  <a:cubicBezTo>
                    <a:pt x="2850467" y="1626410"/>
                    <a:pt x="2845152" y="1639242"/>
                    <a:pt x="2835690" y="1648703"/>
                  </a:cubicBezTo>
                  <a:cubicBezTo>
                    <a:pt x="2826229" y="1658165"/>
                    <a:pt x="2813397" y="1663480"/>
                    <a:pt x="2800017" y="1663480"/>
                  </a:cubicBezTo>
                  <a:lnTo>
                    <a:pt x="50450" y="1663480"/>
                  </a:lnTo>
                  <a:cubicBezTo>
                    <a:pt x="37070" y="1663480"/>
                    <a:pt x="24238" y="1658165"/>
                    <a:pt x="14777" y="1648703"/>
                  </a:cubicBezTo>
                  <a:cubicBezTo>
                    <a:pt x="5315" y="1639242"/>
                    <a:pt x="0" y="1626410"/>
                    <a:pt x="0" y="1613030"/>
                  </a:cubicBezTo>
                  <a:lnTo>
                    <a:pt x="0" y="50450"/>
                  </a:lnTo>
                  <a:cubicBezTo>
                    <a:pt x="0" y="37070"/>
                    <a:pt x="5315" y="24238"/>
                    <a:pt x="14777" y="14777"/>
                  </a:cubicBezTo>
                  <a:cubicBezTo>
                    <a:pt x="24238" y="5315"/>
                    <a:pt x="37070" y="0"/>
                    <a:pt x="504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850467" cy="1701580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8087" y="1785624"/>
            <a:ext cx="5128994" cy="2961671"/>
            <a:chOff x="0" y="0"/>
            <a:chExt cx="6838659" cy="394889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1589864" y="-85725"/>
              <a:ext cx="4202931" cy="538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95"/>
                </a:lnSpc>
              </a:pPr>
              <a:r>
                <a:rPr lang="en-US" b="true" sz="223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  <a:r>
                <a:rPr lang="en-US" b="true" sz="223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olicitação</a:t>
              </a:r>
              <a:r>
                <a:rPr lang="en-US" b="true" sz="2233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atual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589864" y="539905"/>
              <a:ext cx="5248795" cy="34089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Dados demográficos, renda e crédito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•AMT_CREDIT,AMT_ANNUITY,AMT_GOODS_PRICE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EXT_SOURCE_1/2/3 — principais preditores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•Variáveis categóricas: renda, educação, gênero, família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•DAYS_BIRTH e DAYS_EMPLOYED transformados em idade e tempo de atividade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31407"/>
              <a:ext cx="1165955" cy="932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46"/>
                </a:lnSpc>
              </a:pPr>
              <a:r>
                <a:rPr lang="en-US" sz="5162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64564" y="5810068"/>
            <a:ext cx="6598634" cy="3850840"/>
            <a:chOff x="0" y="0"/>
            <a:chExt cx="2850467" cy="1663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50467" cy="1663480"/>
            </a:xfrm>
            <a:custGeom>
              <a:avLst/>
              <a:gdLst/>
              <a:ahLst/>
              <a:cxnLst/>
              <a:rect r="r" b="b" t="t" l="l"/>
              <a:pathLst>
                <a:path h="1663480" w="2850467">
                  <a:moveTo>
                    <a:pt x="50450" y="0"/>
                  </a:moveTo>
                  <a:lnTo>
                    <a:pt x="2800017" y="0"/>
                  </a:lnTo>
                  <a:cubicBezTo>
                    <a:pt x="2813397" y="0"/>
                    <a:pt x="2826229" y="5315"/>
                    <a:pt x="2835690" y="14777"/>
                  </a:cubicBezTo>
                  <a:cubicBezTo>
                    <a:pt x="2845152" y="24238"/>
                    <a:pt x="2850467" y="37070"/>
                    <a:pt x="2850467" y="50450"/>
                  </a:cubicBezTo>
                  <a:lnTo>
                    <a:pt x="2850467" y="1613030"/>
                  </a:lnTo>
                  <a:cubicBezTo>
                    <a:pt x="2850467" y="1626410"/>
                    <a:pt x="2845152" y="1639242"/>
                    <a:pt x="2835690" y="1648703"/>
                  </a:cubicBezTo>
                  <a:cubicBezTo>
                    <a:pt x="2826229" y="1658165"/>
                    <a:pt x="2813397" y="1663480"/>
                    <a:pt x="2800017" y="1663480"/>
                  </a:cubicBezTo>
                  <a:lnTo>
                    <a:pt x="50450" y="1663480"/>
                  </a:lnTo>
                  <a:cubicBezTo>
                    <a:pt x="37070" y="1663480"/>
                    <a:pt x="24238" y="1658165"/>
                    <a:pt x="14777" y="1648703"/>
                  </a:cubicBezTo>
                  <a:cubicBezTo>
                    <a:pt x="5315" y="1639242"/>
                    <a:pt x="0" y="1626410"/>
                    <a:pt x="0" y="1613030"/>
                  </a:cubicBezTo>
                  <a:lnTo>
                    <a:pt x="0" y="50450"/>
                  </a:lnTo>
                  <a:cubicBezTo>
                    <a:pt x="0" y="37070"/>
                    <a:pt x="5315" y="24238"/>
                    <a:pt x="14777" y="14777"/>
                  </a:cubicBezTo>
                  <a:cubicBezTo>
                    <a:pt x="24238" y="5315"/>
                    <a:pt x="37070" y="0"/>
                    <a:pt x="5045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850467" cy="1701580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99384" y="6206273"/>
            <a:ext cx="5128994" cy="3058429"/>
            <a:chOff x="0" y="0"/>
            <a:chExt cx="6838659" cy="407790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589864" y="-85725"/>
              <a:ext cx="4202931" cy="538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95"/>
                </a:lnSpc>
              </a:pPr>
              <a:r>
                <a:rPr lang="en-US" b="true" sz="2233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Razões financeiras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589864" y="525080"/>
              <a:ext cx="5248795" cy="3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00"/>
                </a:lnSpc>
              </a:pPr>
              <a:r>
                <a:rPr lang="en-US" sz="150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CREDIT_INCOME_RATIO = c</a:t>
              </a:r>
              <a:r>
                <a:rPr lang="en-US" sz="150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rédito / renda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ANNUITY_INCOME_RATIO = parcela / renda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ANNUITY_CREDIT_RATIO = parcela / crédito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Capturam comprometimento financeiro</a:t>
              </a:r>
            </a:p>
            <a:p>
              <a:pPr algn="just">
                <a:lnSpc>
                  <a:spcPts val="2100"/>
                </a:lnSpc>
              </a:pPr>
              <a:r>
                <a:rPr lang="en-US" sz="150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Tratamento de infinito para nulo em divisões por zero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89549"/>
              <a:ext cx="1165955" cy="932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46"/>
                </a:lnSpc>
              </a:pPr>
              <a:r>
                <a:rPr lang="en-US" sz="5162" spc="-15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32325" y="1273427"/>
            <a:ext cx="6587750" cy="2491038"/>
            <a:chOff x="0" y="0"/>
            <a:chExt cx="2845765" cy="10760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45765" cy="1076075"/>
            </a:xfrm>
            <a:custGeom>
              <a:avLst/>
              <a:gdLst/>
              <a:ahLst/>
              <a:cxnLst/>
              <a:rect r="r" b="b" t="t" l="l"/>
              <a:pathLst>
                <a:path h="1076075" w="2845765">
                  <a:moveTo>
                    <a:pt x="50534" y="0"/>
                  </a:moveTo>
                  <a:lnTo>
                    <a:pt x="2795232" y="0"/>
                  </a:lnTo>
                  <a:cubicBezTo>
                    <a:pt x="2808634" y="0"/>
                    <a:pt x="2821487" y="5324"/>
                    <a:pt x="2830964" y="14801"/>
                  </a:cubicBezTo>
                  <a:cubicBezTo>
                    <a:pt x="2840441" y="24278"/>
                    <a:pt x="2845765" y="37131"/>
                    <a:pt x="2845765" y="50534"/>
                  </a:cubicBezTo>
                  <a:lnTo>
                    <a:pt x="2845765" y="1025541"/>
                  </a:lnTo>
                  <a:cubicBezTo>
                    <a:pt x="2845765" y="1053450"/>
                    <a:pt x="2823141" y="1076075"/>
                    <a:pt x="2795232" y="1076075"/>
                  </a:cubicBezTo>
                  <a:lnTo>
                    <a:pt x="50534" y="1076075"/>
                  </a:lnTo>
                  <a:cubicBezTo>
                    <a:pt x="37131" y="1076075"/>
                    <a:pt x="24278" y="1070751"/>
                    <a:pt x="14801" y="1061274"/>
                  </a:cubicBezTo>
                  <a:cubicBezTo>
                    <a:pt x="5324" y="1051797"/>
                    <a:pt x="0" y="1038943"/>
                    <a:pt x="0" y="1025541"/>
                  </a:cubicBezTo>
                  <a:lnTo>
                    <a:pt x="0" y="50534"/>
                  </a:lnTo>
                  <a:cubicBezTo>
                    <a:pt x="0" y="37131"/>
                    <a:pt x="5324" y="24278"/>
                    <a:pt x="14801" y="14801"/>
                  </a:cubicBezTo>
                  <a:cubicBezTo>
                    <a:pt x="24278" y="5324"/>
                    <a:pt x="37131" y="0"/>
                    <a:pt x="505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845765" cy="1114175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58243" y="1591781"/>
            <a:ext cx="5128994" cy="1674678"/>
            <a:chOff x="0" y="0"/>
            <a:chExt cx="6838659" cy="223290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1589864" y="-47625"/>
              <a:ext cx="2624397" cy="706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75"/>
                </a:lnSpc>
              </a:pPr>
              <a:r>
                <a:rPr lang="en-US" b="true" sz="143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Histórico externo — BUREAU_*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589864" y="534605"/>
              <a:ext cx="5248795" cy="16982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Nº de créditos no birô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Créditos ativos e encerrados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Dívida total e valor em atraso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Maior atraso observado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BUREAU_DEBT_CREDIT_RATIO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231775"/>
              <a:ext cx="1165955" cy="932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46"/>
                </a:lnSpc>
              </a:pPr>
              <a:r>
                <a:rPr lang="en-US" sz="5162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32325" y="4140363"/>
            <a:ext cx="6580830" cy="2531597"/>
            <a:chOff x="0" y="0"/>
            <a:chExt cx="2850467" cy="10965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50467" cy="1096554"/>
            </a:xfrm>
            <a:custGeom>
              <a:avLst/>
              <a:gdLst/>
              <a:ahLst/>
              <a:cxnLst/>
              <a:rect r="r" b="b" t="t" l="l"/>
              <a:pathLst>
                <a:path h="1096554" w="2850467">
                  <a:moveTo>
                    <a:pt x="50587" y="0"/>
                  </a:moveTo>
                  <a:lnTo>
                    <a:pt x="2799880" y="0"/>
                  </a:lnTo>
                  <a:cubicBezTo>
                    <a:pt x="2813297" y="0"/>
                    <a:pt x="2826164" y="5330"/>
                    <a:pt x="2835651" y="14817"/>
                  </a:cubicBezTo>
                  <a:cubicBezTo>
                    <a:pt x="2845137" y="24303"/>
                    <a:pt x="2850467" y="37170"/>
                    <a:pt x="2850467" y="50587"/>
                  </a:cubicBezTo>
                  <a:lnTo>
                    <a:pt x="2850467" y="1045967"/>
                  </a:lnTo>
                  <a:cubicBezTo>
                    <a:pt x="2850467" y="1059383"/>
                    <a:pt x="2845137" y="1072250"/>
                    <a:pt x="2835651" y="1081737"/>
                  </a:cubicBezTo>
                  <a:cubicBezTo>
                    <a:pt x="2826164" y="1091224"/>
                    <a:pt x="2813297" y="1096554"/>
                    <a:pt x="2799880" y="1096554"/>
                  </a:cubicBezTo>
                  <a:lnTo>
                    <a:pt x="50587" y="1096554"/>
                  </a:lnTo>
                  <a:cubicBezTo>
                    <a:pt x="37170" y="1096554"/>
                    <a:pt x="24303" y="1091224"/>
                    <a:pt x="14817" y="1081737"/>
                  </a:cubicBezTo>
                  <a:cubicBezTo>
                    <a:pt x="5330" y="1072250"/>
                    <a:pt x="0" y="1059383"/>
                    <a:pt x="0" y="1045967"/>
                  </a:cubicBezTo>
                  <a:lnTo>
                    <a:pt x="0" y="50587"/>
                  </a:lnTo>
                  <a:cubicBezTo>
                    <a:pt x="0" y="37170"/>
                    <a:pt x="5330" y="24303"/>
                    <a:pt x="14817" y="14817"/>
                  </a:cubicBezTo>
                  <a:cubicBezTo>
                    <a:pt x="24303" y="5330"/>
                    <a:pt x="37170" y="0"/>
                    <a:pt x="5058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850467" cy="1134654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72082" y="4301483"/>
            <a:ext cx="5115156" cy="2209357"/>
            <a:chOff x="0" y="0"/>
            <a:chExt cx="6820208" cy="294581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1585575" y="-85725"/>
              <a:ext cx="4191591" cy="11105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86"/>
                </a:lnSpc>
              </a:pPr>
              <a:r>
                <a:rPr lang="en-US" b="true" sz="2227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Histórico interno — PREV_*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585575" y="569561"/>
              <a:ext cx="5234633" cy="237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81"/>
                </a:lnSpc>
              </a:pPr>
            </a:p>
            <a:p>
              <a:pPr algn="just">
                <a:lnSpc>
                  <a:spcPts val="2081"/>
                </a:lnSpc>
              </a:pPr>
              <a:r>
                <a:rPr lang="en-US" sz="148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Nº de pedidos anteriores</a:t>
              </a:r>
            </a:p>
            <a:p>
              <a:pPr algn="just">
                <a:lnSpc>
                  <a:spcPts val="2081"/>
                </a:lnSpc>
              </a:pPr>
              <a:r>
                <a:rPr lang="en-US" sz="148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Taxa de aprovação</a:t>
              </a:r>
            </a:p>
            <a:p>
              <a:pPr algn="just">
                <a:lnSpc>
                  <a:spcPts val="2081"/>
                </a:lnSpc>
              </a:pPr>
              <a:r>
                <a:rPr lang="en-US" sz="148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Taxa de recusa</a:t>
              </a:r>
            </a:p>
            <a:p>
              <a:pPr algn="just">
                <a:lnSpc>
                  <a:spcPts val="2081"/>
                </a:lnSpc>
              </a:pPr>
              <a:r>
                <a:rPr lang="en-US" sz="148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Valor médio solicitado/aprovado</a:t>
              </a:r>
            </a:p>
            <a:p>
              <a:pPr algn="just">
                <a:lnSpc>
                  <a:spcPts val="2081"/>
                </a:lnSpc>
              </a:pPr>
              <a:r>
                <a:rPr lang="en-US" sz="1486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• Relação crédito solicitado vs. crédito concedido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95364"/>
              <a:ext cx="1162809" cy="929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33"/>
                </a:lnSpc>
              </a:pPr>
              <a:r>
                <a:rPr lang="en-US" sz="5148" spc="-154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39244" y="6957711"/>
            <a:ext cx="6901279" cy="2703197"/>
            <a:chOff x="0" y="0"/>
            <a:chExt cx="2981203" cy="116772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981203" cy="1167723"/>
            </a:xfrm>
            <a:custGeom>
              <a:avLst/>
              <a:gdLst/>
              <a:ahLst/>
              <a:cxnLst/>
              <a:rect r="r" b="b" t="t" l="l"/>
              <a:pathLst>
                <a:path h="1167723" w="2981203">
                  <a:moveTo>
                    <a:pt x="48238" y="0"/>
                  </a:moveTo>
                  <a:lnTo>
                    <a:pt x="2932966" y="0"/>
                  </a:lnTo>
                  <a:cubicBezTo>
                    <a:pt x="2945759" y="0"/>
                    <a:pt x="2958029" y="5082"/>
                    <a:pt x="2967075" y="14129"/>
                  </a:cubicBezTo>
                  <a:cubicBezTo>
                    <a:pt x="2976121" y="23175"/>
                    <a:pt x="2981203" y="35444"/>
                    <a:pt x="2981203" y="48238"/>
                  </a:cubicBezTo>
                  <a:lnTo>
                    <a:pt x="2981203" y="1119485"/>
                  </a:lnTo>
                  <a:cubicBezTo>
                    <a:pt x="2981203" y="1146126"/>
                    <a:pt x="2959607" y="1167723"/>
                    <a:pt x="2932966" y="1167723"/>
                  </a:cubicBezTo>
                  <a:lnTo>
                    <a:pt x="48238" y="1167723"/>
                  </a:lnTo>
                  <a:cubicBezTo>
                    <a:pt x="35444" y="1167723"/>
                    <a:pt x="23175" y="1162641"/>
                    <a:pt x="14129" y="1153594"/>
                  </a:cubicBezTo>
                  <a:cubicBezTo>
                    <a:pt x="5082" y="1144548"/>
                    <a:pt x="0" y="1132278"/>
                    <a:pt x="0" y="1119485"/>
                  </a:cubicBezTo>
                  <a:lnTo>
                    <a:pt x="0" y="48238"/>
                  </a:lnTo>
                  <a:cubicBezTo>
                    <a:pt x="0" y="35444"/>
                    <a:pt x="5082" y="23175"/>
                    <a:pt x="14129" y="14129"/>
                  </a:cubicBezTo>
                  <a:cubicBezTo>
                    <a:pt x="23175" y="5082"/>
                    <a:pt x="35444" y="0"/>
                    <a:pt x="4823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981203" cy="1205823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147392" y="7173548"/>
            <a:ext cx="5284984" cy="2271523"/>
            <a:chOff x="0" y="0"/>
            <a:chExt cx="7046646" cy="3028697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1968022" y="-47625"/>
              <a:ext cx="2624397" cy="1073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175"/>
                </a:lnSpc>
              </a:pPr>
              <a:r>
                <a:rPr lang="en-US" b="true" sz="143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Comportamento de pagamento — INSTAL_*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797851" y="988261"/>
              <a:ext cx="5248795" cy="20404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Atraso médio de pagamento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Maior atraso observado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Taxa de parcelas pagas em atraso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Taxa de atraso acima de 30 dias</a:t>
              </a:r>
            </a:p>
            <a:p>
              <a:pPr algn="just">
                <a:lnSpc>
                  <a:spcPts val="2087"/>
                </a:lnSpc>
              </a:pPr>
              <a:r>
                <a:rPr lang="en-US" sz="149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• Pagamento parcial e razão valor pago / valor devido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225338"/>
              <a:ext cx="1165955" cy="9321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46"/>
                </a:lnSpc>
              </a:pPr>
              <a:r>
                <a:rPr lang="en-US" sz="5162" spc="-15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41311" y="0"/>
            <a:ext cx="546689" cy="7173190"/>
            <a:chOff x="0" y="0"/>
            <a:chExt cx="143984" cy="18892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984" cy="1889235"/>
            </a:xfrm>
            <a:custGeom>
              <a:avLst/>
              <a:gdLst/>
              <a:ahLst/>
              <a:cxnLst/>
              <a:rect r="r" b="b" t="t" l="l"/>
              <a:pathLst>
                <a:path h="1889235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4442685" y="0"/>
            <a:ext cx="0" cy="1028700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cap="rnd" w="19050">
            <a:solidFill>
              <a:srgbClr val="3A58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6305" y="9525"/>
            <a:ext cx="1197405" cy="1196248"/>
            <a:chOff x="0" y="0"/>
            <a:chExt cx="1596540" cy="159499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42685" y="9525"/>
            <a:ext cx="1197405" cy="1196248"/>
            <a:chOff x="0" y="0"/>
            <a:chExt cx="1596540" cy="159499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75845" y="9525"/>
            <a:ext cx="1197405" cy="1196248"/>
            <a:chOff x="0" y="0"/>
            <a:chExt cx="1596540" cy="159499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309005" y="9525"/>
            <a:ext cx="1197405" cy="1196248"/>
            <a:chOff x="0" y="0"/>
            <a:chExt cx="1596540" cy="1594997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596540" cy="1594997"/>
              <a:chOff x="0" y="0"/>
              <a:chExt cx="787566" cy="78680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06583" y="454809"/>
              <a:ext cx="1183375" cy="771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59"/>
                </a:lnSpc>
              </a:pPr>
              <a:r>
                <a:rPr lang="en-US" sz="4244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626066" y="1921582"/>
            <a:ext cx="921977" cy="757697"/>
          </a:xfrm>
          <a:custGeom>
            <a:avLst/>
            <a:gdLst/>
            <a:ahLst/>
            <a:cxnLst/>
            <a:rect r="r" b="b" t="t" l="l"/>
            <a:pathLst>
              <a:path h="757697" w="921977">
                <a:moveTo>
                  <a:pt x="0" y="0"/>
                </a:moveTo>
                <a:lnTo>
                  <a:pt x="921977" y="0"/>
                </a:lnTo>
                <a:lnTo>
                  <a:pt x="921977" y="757698"/>
                </a:lnTo>
                <a:lnTo>
                  <a:pt x="0" y="757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5147491" y="1908764"/>
            <a:ext cx="757697" cy="783334"/>
          </a:xfrm>
          <a:custGeom>
            <a:avLst/>
            <a:gdLst/>
            <a:ahLst/>
            <a:cxnLst/>
            <a:rect r="r" b="b" t="t" l="l"/>
            <a:pathLst>
              <a:path h="783334" w="757697">
                <a:moveTo>
                  <a:pt x="0" y="0"/>
                </a:moveTo>
                <a:lnTo>
                  <a:pt x="757697" y="0"/>
                </a:lnTo>
                <a:lnTo>
                  <a:pt x="757697" y="783334"/>
                </a:lnTo>
                <a:lnTo>
                  <a:pt x="0" y="783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42685" y="2007222"/>
            <a:ext cx="977364" cy="586418"/>
          </a:xfrm>
          <a:custGeom>
            <a:avLst/>
            <a:gdLst/>
            <a:ahLst/>
            <a:cxnLst/>
            <a:rect r="r" b="b" t="t" l="l"/>
            <a:pathLst>
              <a:path h="586418" w="977364">
                <a:moveTo>
                  <a:pt x="0" y="0"/>
                </a:moveTo>
                <a:lnTo>
                  <a:pt x="977363" y="0"/>
                </a:lnTo>
                <a:lnTo>
                  <a:pt x="977363" y="586418"/>
                </a:lnTo>
                <a:lnTo>
                  <a:pt x="0" y="5864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28700" y="8125800"/>
            <a:ext cx="22757" cy="975106"/>
            <a:chOff x="0" y="0"/>
            <a:chExt cx="12543" cy="5374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543" cy="537460"/>
            </a:xfrm>
            <a:custGeom>
              <a:avLst/>
              <a:gdLst/>
              <a:ahLst/>
              <a:cxnLst/>
              <a:rect r="r" b="b" t="t" l="l"/>
              <a:pathLst>
                <a:path h="537460" w="12543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-9525" y="7173190"/>
            <a:ext cx="546689" cy="3113810"/>
            <a:chOff x="0" y="0"/>
            <a:chExt cx="143984" cy="82009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3984" cy="820098"/>
            </a:xfrm>
            <a:custGeom>
              <a:avLst/>
              <a:gdLst/>
              <a:ahLst/>
              <a:cxnLst/>
              <a:rect r="r" b="b" t="t" l="l"/>
              <a:pathLst>
                <a:path h="820098" w="143984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6080169" y="1964402"/>
            <a:ext cx="1154611" cy="672058"/>
          </a:xfrm>
          <a:custGeom>
            <a:avLst/>
            <a:gdLst/>
            <a:ahLst/>
            <a:cxnLst/>
            <a:rect r="r" b="b" t="t" l="l"/>
            <a:pathLst>
              <a:path h="672058" w="1154611">
                <a:moveTo>
                  <a:pt x="0" y="0"/>
                </a:moveTo>
                <a:lnTo>
                  <a:pt x="1154611" y="0"/>
                </a:lnTo>
                <a:lnTo>
                  <a:pt x="1154611" y="672058"/>
                </a:lnTo>
                <a:lnTo>
                  <a:pt x="0" y="672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615007" y="3643434"/>
            <a:ext cx="3426255" cy="2432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5"/>
              </a:lnSpc>
            </a:pPr>
            <a:r>
              <a:rPr lang="en-US" sz="2127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98</a:t>
            </a:r>
            <a:r>
              <a:rPr lang="en-US" sz="2127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.287 clientes </a:t>
            </a:r>
          </a:p>
          <a:p>
            <a:pPr algn="just">
              <a:lnSpc>
                <a:spcPts val="2765"/>
              </a:lnSpc>
            </a:pPr>
            <a:r>
              <a:rPr lang="en-US" sz="2127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(80%) 78.629 linhas para treino</a:t>
            </a:r>
          </a:p>
          <a:p>
            <a:pPr algn="just">
              <a:lnSpc>
                <a:spcPts val="2765"/>
              </a:lnSpc>
            </a:pPr>
            <a:r>
              <a:rPr lang="en-US" sz="2127" spc="-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(20%) 9.658 linhas para holdout</a:t>
            </a:r>
          </a:p>
          <a:p>
            <a:pPr algn="just">
              <a:lnSpc>
                <a:spcPts val="2765"/>
              </a:lnSpc>
            </a:pPr>
          </a:p>
          <a:p>
            <a:pPr algn="just">
              <a:lnSpc>
                <a:spcPts val="2765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4582184" y="3735071"/>
            <a:ext cx="4150582" cy="184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Compara Regressão Logística, Random Forest e Gr</a:t>
            </a: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adientBoosting pela AUC-ROC média em validação cruzada (5 folds; 30% da base de treino p/ velocidade)</a:t>
            </a:r>
          </a:p>
          <a:p>
            <a:pPr algn="just">
              <a:lnSpc>
                <a:spcPts val="2436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8975557" y="3980876"/>
            <a:ext cx="4222994" cy="184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GridSearchCV testa combinações </a:t>
            </a: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do modelo vencedor.</a:t>
            </a:r>
          </a:p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No meu caso, o Gradient Boosting venceu e foi ajustado para:</a:t>
            </a:r>
          </a:p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n_estimators=200, max_depth=2, learning_rate=0.1.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701894" y="3938056"/>
            <a:ext cx="3656849" cy="1843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 melhor estimador do GridSearchCV é re-trein</a:t>
            </a: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ado</a:t>
            </a:r>
          </a:p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com todo o conjunto de treino.</a:t>
            </a:r>
          </a:p>
          <a:p>
            <a:pPr algn="just">
              <a:lnSpc>
                <a:spcPts val="2436"/>
              </a:lnSpc>
            </a:pPr>
          </a:p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Busca/seleção: 30% do treino</a:t>
            </a:r>
          </a:p>
          <a:p>
            <a:pPr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Fit final: 100% do treino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7678" y="8063656"/>
            <a:ext cx="2762082" cy="119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8"/>
              </a:lnSpc>
            </a:pPr>
            <a:r>
              <a:rPr lang="en-US" sz="4682" spc="-29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Core Objectives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285966" y="8068650"/>
            <a:ext cx="7762895" cy="134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2"/>
              </a:lnSpc>
            </a:pPr>
            <a:r>
              <a:rPr lang="en-US" sz="190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AUC-ROC = 0,7643</a:t>
            </a:r>
          </a:p>
          <a:p>
            <a:pPr algn="just">
              <a:lnSpc>
                <a:spcPts val="2662"/>
              </a:lnSpc>
            </a:pPr>
            <a:r>
              <a:rPr lang="en-US" sz="190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KS = 0,3994</a:t>
            </a:r>
          </a:p>
          <a:p>
            <a:pPr algn="just">
              <a:lnSpc>
                <a:spcPts val="2662"/>
              </a:lnSpc>
            </a:pPr>
            <a:r>
              <a:rPr lang="en-US" sz="190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Rec</a:t>
            </a:r>
            <a:r>
              <a:rPr lang="en-US" sz="190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all default = 67,63%</a:t>
            </a:r>
          </a:p>
          <a:p>
            <a:pPr algn="just">
              <a:lnSpc>
                <a:spcPts val="2662"/>
              </a:lnSpc>
            </a:pPr>
            <a:r>
              <a:rPr lang="en-US" sz="190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Precision default = 17,70%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12270" y="3090400"/>
            <a:ext cx="3438193" cy="40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ABT FINAL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938378" y="3090400"/>
            <a:ext cx="3438193" cy="40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SELEÇÃO DO MODELO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64486" y="3090400"/>
            <a:ext cx="3438193" cy="82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AJUSTE DE HIPERPARAMETROS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94066" y="3090400"/>
            <a:ext cx="3438193" cy="40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RE-TREINO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705807" y="7639915"/>
            <a:ext cx="3438193" cy="40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6"/>
              </a:lnSpc>
              <a:spcBef>
                <a:spcPct val="0"/>
              </a:spcBef>
            </a:pPr>
            <a:r>
              <a:rPr lang="en-US" b="true" sz="2390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AVALIAÇÃO FINAL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21121" y="0"/>
            <a:ext cx="6938179" cy="10287000"/>
            <a:chOff x="0" y="0"/>
            <a:chExt cx="182733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733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27339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09769" y="782418"/>
            <a:ext cx="3189919" cy="620584"/>
          </a:xfrm>
          <a:custGeom>
            <a:avLst/>
            <a:gdLst/>
            <a:ahLst/>
            <a:cxnLst/>
            <a:rect r="r" b="b" t="t" l="l"/>
            <a:pathLst>
              <a:path h="620584" w="3189919">
                <a:moveTo>
                  <a:pt x="0" y="0"/>
                </a:moveTo>
                <a:lnTo>
                  <a:pt x="3189919" y="0"/>
                </a:lnTo>
                <a:lnTo>
                  <a:pt x="3189919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71441" y="1046358"/>
            <a:ext cx="2920486" cy="2916826"/>
            <a:chOff x="0" y="0"/>
            <a:chExt cx="567580" cy="5668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7580" cy="566868"/>
            </a:xfrm>
            <a:custGeom>
              <a:avLst/>
              <a:gdLst/>
              <a:ahLst/>
              <a:cxnLst/>
              <a:rect r="r" b="b" t="t" l="l"/>
              <a:pathLst>
                <a:path h="566868" w="567580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anchor="ctr" rtlCol="false" tIns="65745" lIns="65745" bIns="65745" rIns="65745"/>
            <a:lstStyle/>
            <a:p>
              <a:pPr algn="ctr">
                <a:lnSpc>
                  <a:spcPts val="24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79202" y="1092710"/>
            <a:ext cx="2920486" cy="2916826"/>
            <a:chOff x="0" y="0"/>
            <a:chExt cx="567580" cy="5668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580" cy="566868"/>
            </a:xfrm>
            <a:custGeom>
              <a:avLst/>
              <a:gdLst/>
              <a:ahLst/>
              <a:cxnLst/>
              <a:rect r="r" b="b" t="t" l="l"/>
              <a:pathLst>
                <a:path h="566868" w="567580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anchor="ctr" rtlCol="false" tIns="65745" lIns="65745" bIns="65745" rIns="65745"/>
            <a:lstStyle/>
            <a:p>
              <a:pPr algn="ctr">
                <a:lnSpc>
                  <a:spcPts val="2460"/>
                </a:lnSpc>
              </a:pP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2084553" y="4980004"/>
          <a:ext cx="7911032" cy="2638425"/>
        </p:xfrm>
        <a:graphic>
          <a:graphicData uri="http://schemas.openxmlformats.org/drawingml/2006/table">
            <a:tbl>
              <a:tblPr/>
              <a:tblGrid>
                <a:gridCol w="2166840"/>
                <a:gridCol w="1428131"/>
                <a:gridCol w="1428131"/>
                <a:gridCol w="1443965"/>
                <a:gridCol w="1443965"/>
              </a:tblGrid>
              <a:tr h="14883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 inadimplente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CV-AUC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AUC-Teste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1500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Gradient Boosting 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0,3994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0,6763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0,7551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0,7643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Object 13" id="13"/>
          <p:cNvGraphicFramePr/>
          <p:nvPr/>
        </p:nvGraphicFramePr>
        <p:xfrm>
          <a:off x="10321121" y="0"/>
          <a:ext cx="3771900" cy="3771900"/>
        </p:xfrm>
        <a:graphic>
          <a:graphicData uri="http://schemas.openxmlformats.org/presentationml/2006/ole">
            <p:oleObj imgW="4521200" imgH="452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2220765" y="1506522"/>
            <a:ext cx="3221838" cy="82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8"/>
              </a:lnSpc>
            </a:pPr>
            <a:r>
              <a:rPr lang="en-US" b="true" sz="3230" spc="-96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Modelo Vencedor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53084" y="2447622"/>
            <a:ext cx="1957200" cy="729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35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</a:t>
            </a:r>
            <a:r>
              <a:rPr lang="en-US" sz="2035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ADIENT BOOSTING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3480" y="1976921"/>
            <a:ext cx="2834692" cy="109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35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N_ESTIMATORS = 200</a:t>
            </a:r>
          </a:p>
          <a:p>
            <a:pPr algn="ctr">
              <a:lnSpc>
                <a:spcPts val="2849"/>
              </a:lnSpc>
            </a:pPr>
            <a:r>
              <a:rPr lang="en-US" sz="2035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035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AX_DEPTH = 2</a:t>
            </a:r>
          </a:p>
          <a:p>
            <a:pPr algn="ctr">
              <a:lnSpc>
                <a:spcPts val="2849"/>
              </a:lnSpc>
            </a:pPr>
            <a:r>
              <a:rPr lang="en-US" sz="2035" spc="-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LEARNING_RATE = 0.1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88445" y="3944135"/>
            <a:ext cx="5003531" cy="5905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  <a:spcBef>
                <a:spcPct val="0"/>
              </a:spcBef>
            </a:pPr>
            <a:r>
              <a:rPr lang="en-US" sz="1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que significa cada métrica?</a:t>
            </a:r>
          </a:p>
          <a:p>
            <a:pPr algn="ctr">
              <a:lnSpc>
                <a:spcPts val="2491"/>
              </a:lnSpc>
              <a:spcBef>
                <a:spcPct val="0"/>
              </a:spcBef>
            </a:pPr>
            <a:r>
              <a:rPr lang="en-US" sz="1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AUC (0,7643): acerto em ordenar bons × maus pagadores (0,5 = sorte · 1,0 = perfeito).</a:t>
            </a:r>
          </a:p>
          <a:p>
            <a:pPr algn="ctr">
              <a:lnSpc>
                <a:spcPts val="2491"/>
              </a:lnSpc>
              <a:spcBef>
                <a:spcPct val="0"/>
              </a:spcBef>
            </a:pPr>
            <a:r>
              <a:rPr lang="en-US" sz="1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KS (0,3994): a maior distância entre a distribuição de score dos bons e dos maus pagadores (quanto maior, mais o modelo os empurra para pontas opostas).</a:t>
            </a:r>
          </a:p>
          <a:p>
            <a:pPr algn="ctr">
              <a:lnSpc>
                <a:spcPts val="2491"/>
              </a:lnSpc>
              <a:spcBef>
                <a:spcPct val="0"/>
              </a:spcBef>
            </a:pPr>
            <a:r>
              <a:rPr lang="en-US" sz="1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Recall (67,63%): % inadimplentes reais que o modelo consegue identificar.</a:t>
            </a:r>
          </a:p>
          <a:p>
            <a:pPr algn="ctr">
              <a:lnSpc>
                <a:spcPts val="2491"/>
              </a:lnSpc>
              <a:spcBef>
                <a:spcPct val="0"/>
              </a:spcBef>
            </a:pPr>
            <a:r>
              <a:rPr lang="en-US" sz="1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Não usei: </a:t>
            </a:r>
          </a:p>
          <a:p>
            <a:pPr algn="ctr">
              <a:lnSpc>
                <a:spcPts val="2491"/>
              </a:lnSpc>
              <a:spcBef>
                <a:spcPct val="0"/>
              </a:spcBef>
            </a:pPr>
            <a:r>
              <a:rPr lang="en-US" sz="1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Acurácia (70,83% de acertos em adimplentes + inadimplentes): com a base desbalanceada (8% inadimplentes), a acurácia é enganosa — avaliamos métricas por classe.</a:t>
            </a:r>
          </a:p>
          <a:p>
            <a:pPr algn="ctr">
              <a:lnSpc>
                <a:spcPts val="2491"/>
              </a:lnSpc>
              <a:spcBef>
                <a:spcPct val="0"/>
              </a:spcBef>
            </a:pPr>
            <a:r>
              <a:rPr lang="en-US" sz="177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Precision (17,70% de acertos entre bons e maus pagadores): o custo de errar é assimétrico (inadimplente aprovado = prejuízo; bom pagador marcado = revisão do analista).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38046" y="0"/>
            <a:ext cx="1849954" cy="1848166"/>
            <a:chOff x="0" y="0"/>
            <a:chExt cx="2466605" cy="246422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787566" cy="786805"/>
              </a:xfrm>
              <a:custGeom>
                <a:avLst/>
                <a:gdLst/>
                <a:ahLst/>
                <a:cxnLst/>
                <a:rect r="r" b="b" t="t" l="l"/>
                <a:pathLst>
                  <a:path h="786805" w="787566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19164" y="694049"/>
              <a:ext cx="1828278" cy="11999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13075" y="4143613"/>
            <a:ext cx="4784978" cy="4784978"/>
          </a:xfrm>
          <a:custGeom>
            <a:avLst/>
            <a:gdLst/>
            <a:ahLst/>
            <a:cxnLst/>
            <a:rect r="r" b="b" t="t" l="l"/>
            <a:pathLst>
              <a:path h="4784978" w="4784978">
                <a:moveTo>
                  <a:pt x="0" y="0"/>
                </a:moveTo>
                <a:lnTo>
                  <a:pt x="4784977" y="0"/>
                </a:lnTo>
                <a:lnTo>
                  <a:pt x="4784977" y="4784978"/>
                </a:lnTo>
                <a:lnTo>
                  <a:pt x="0" y="4784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636305" y="5133125"/>
            <a:ext cx="4784978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VN = 6.583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8228" y="5541638"/>
            <a:ext cx="555911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33,5%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26593" y="5133125"/>
            <a:ext cx="1044159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FP = 11.422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51854" y="5541638"/>
            <a:ext cx="593637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58,1%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7992" y="7521424"/>
            <a:ext cx="796384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FN = 152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636305" y="7827721"/>
            <a:ext cx="4784978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0,8%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40223" y="7521424"/>
            <a:ext cx="1030529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 = 1.501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51463" y="7827721"/>
            <a:ext cx="408050" cy="26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5"/>
              </a:lnSpc>
              <a:spcBef>
                <a:spcPct val="0"/>
              </a:spcBef>
            </a:pPr>
            <a:r>
              <a:rPr lang="en-US" sz="15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7,6%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1520" y="9061941"/>
            <a:ext cx="3748088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 inadimplente = 90,8%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Taxa de aprovação = 34,3%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Taxa de revisão/negação = 65,7%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0862" y="3828834"/>
            <a:ext cx="474940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Threshold 0,3 — banco mais conservador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313148" y="460549"/>
            <a:ext cx="4784978" cy="4784978"/>
          </a:xfrm>
          <a:custGeom>
            <a:avLst/>
            <a:gdLst/>
            <a:ahLst/>
            <a:cxnLst/>
            <a:rect r="r" b="b" t="t" l="l"/>
            <a:pathLst>
              <a:path h="4784978" w="4784978">
                <a:moveTo>
                  <a:pt x="0" y="0"/>
                </a:moveTo>
                <a:lnTo>
                  <a:pt x="4784978" y="0"/>
                </a:lnTo>
                <a:lnTo>
                  <a:pt x="4784978" y="4784978"/>
                </a:lnTo>
                <a:lnTo>
                  <a:pt x="0" y="4784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094847" y="1414547"/>
            <a:ext cx="47849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VN = 12.805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50017" y="1810066"/>
            <a:ext cx="67463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65,1%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68811" y="1440535"/>
            <a:ext cx="122202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FP = 5.200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52733" y="1849049"/>
            <a:ext cx="7457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26,5%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59963" y="3919416"/>
            <a:ext cx="10547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FN = 535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26291" y="4318831"/>
            <a:ext cx="52208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2,7%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41769" y="3850017"/>
            <a:ext cx="116770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 = 1.118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1750" y="4318831"/>
            <a:ext cx="52774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5,7%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46104" y="5388402"/>
            <a:ext cx="3719066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 inadimplente = 67,6%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Taxa de aprovação = 67,9%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Taxa de revisão/negação = 32,1%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00674" y="145770"/>
            <a:ext cx="440992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Threshold 0,5 — cenário intermediário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2320977" y="4009492"/>
            <a:ext cx="4784978" cy="4784978"/>
          </a:xfrm>
          <a:custGeom>
            <a:avLst/>
            <a:gdLst/>
            <a:ahLst/>
            <a:cxnLst/>
            <a:rect r="r" b="b" t="t" l="l"/>
            <a:pathLst>
              <a:path h="4784978" w="4784978">
                <a:moveTo>
                  <a:pt x="0" y="0"/>
                </a:moveTo>
                <a:lnTo>
                  <a:pt x="4784977" y="0"/>
                </a:lnTo>
                <a:lnTo>
                  <a:pt x="4784977" y="4784978"/>
                </a:lnTo>
                <a:lnTo>
                  <a:pt x="0" y="4784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211812" y="4989478"/>
            <a:ext cx="478497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VN = 16.654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244902" y="5346015"/>
            <a:ext cx="73759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84,7%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45152" y="4963490"/>
            <a:ext cx="11496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FP = 1.351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36706" y="5359009"/>
            <a:ext cx="56658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6,9%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40102" y="7325801"/>
            <a:ext cx="129316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FN = 1.099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06802" y="7867774"/>
            <a:ext cx="54471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5,6%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461994" y="7325801"/>
            <a:ext cx="99938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VP = 554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691487" y="7867774"/>
            <a:ext cx="5403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2,8%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97822" y="8937345"/>
            <a:ext cx="3597027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 inadimplente = 33,5%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Taxa de aprovação = 90,3%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Taxa de revisão/negação = 9,7%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39459" y="3686277"/>
            <a:ext cx="434801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Threshold 0,7 — banco mais agressivo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1267" y="2780975"/>
            <a:ext cx="8120331" cy="492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Conclusões</a:t>
            </a:r>
          </a:p>
          <a:p>
            <a:pPr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Melhorias </a:t>
            </a:r>
          </a:p>
          <a:p>
            <a:pPr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Monitoramento</a:t>
            </a:r>
          </a:p>
          <a:p>
            <a:pPr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Agentes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174029" y="2100983"/>
            <a:ext cx="6051187" cy="7157317"/>
          </a:xfrm>
          <a:custGeom>
            <a:avLst/>
            <a:gdLst/>
            <a:ahLst/>
            <a:cxnLst/>
            <a:rect r="r" b="b" t="t" l="l"/>
            <a:pathLst>
              <a:path h="7157317" w="6051187">
                <a:moveTo>
                  <a:pt x="0" y="0"/>
                </a:moveTo>
                <a:lnTo>
                  <a:pt x="6051186" y="0"/>
                </a:lnTo>
                <a:lnTo>
                  <a:pt x="6051186" y="7157317"/>
                </a:lnTo>
                <a:lnTo>
                  <a:pt x="0" y="7157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DAHPYGCbZPk</dc:identifier>
  <dcterms:modified xsi:type="dcterms:W3CDTF">2011-08-01T06:04:30Z</dcterms:modified>
  <cp:revision>1</cp:revision>
  <dc:title>Problema do negocio.</dc:title>
</cp:coreProperties>
</file>